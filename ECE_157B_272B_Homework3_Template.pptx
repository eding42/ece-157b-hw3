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60" r:id="rId4"/>
  </p:sldMasterIdLst>
  <p:notesMasterIdLst>
    <p:notesMasterId r:id="rId12"/>
  </p:notesMasterIdLst>
  <p:handoutMasterIdLst>
    <p:handoutMasterId r:id="rId13"/>
  </p:handoutMasterIdLst>
  <p:sldIdLst>
    <p:sldId id="256" r:id="rId5"/>
    <p:sldId id="271" r:id="rId6"/>
    <p:sldId id="272" r:id="rId7"/>
    <p:sldId id="273" r:id="rId8"/>
    <p:sldId id="274" r:id="rId9"/>
    <p:sldId id="275" r:id="rId10"/>
    <p:sldId id="27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404040"/>
    <a:srgbClr val="FF9B45"/>
    <a:srgbClr val="DD462F"/>
    <a:srgbClr val="F8CFB6"/>
    <a:srgbClr val="F8CAB6"/>
    <a:srgbClr val="923922"/>
    <a:srgbClr val="F5F5F5"/>
    <a:srgbClr val="F2F2F2"/>
    <a:srgbClr val="D2B4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241" autoAdjust="0"/>
  </p:normalViewPr>
  <p:slideViewPr>
    <p:cSldViewPr snapToGrid="0">
      <p:cViewPr varScale="1">
        <p:scale>
          <a:sx n="92" d="100"/>
          <a:sy n="92" d="100"/>
        </p:scale>
        <p:origin x="186" y="6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28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680FBE-A8DF-4758-9AC4-3A9E1039168F}" type="datetimeFigureOut">
              <a:rPr lang="en-US" smtClean="0"/>
              <a:t>2/23/2025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679768-A2FC-4D08-91F6-8DCE6C566B3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13577B-6902-467D-A26C-08A0DD5E4E03}" type="datetimeFigureOut">
              <a:rPr lang="en-US" smtClean="0"/>
              <a:t>2/23/2025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61EA0F-A667-4B49-8422-0062BC55E24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1800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Edit Master text styles</a:t>
            </a:r>
          </a:p>
          <a:p>
            <a:pPr marL="0" lvl="1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Second level</a:t>
            </a:r>
          </a:p>
          <a:p>
            <a:pPr marL="0" lvl="2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Third level</a:t>
            </a:r>
          </a:p>
          <a:p>
            <a:pPr marL="0" lvl="3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Fourth level</a:t>
            </a:r>
          </a:p>
          <a:p>
            <a:pPr marL="0" lvl="4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6" name="Date Placeholder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8BEEBAAA-29B5-4AF5-BC5F-7E580C29002D}" type="datetimeFigureOut">
              <a:rPr lang="en-US" smtClean="0"/>
              <a:pPr/>
              <a:t>2/23/2025</a:t>
            </a:fld>
            <a:endParaRPr lang="en-US" dirty="0"/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9860EDB8-5305-433F-BE41-D7A86D811DB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0" name="Rectangle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Edit Master text styles</a:t>
            </a:r>
          </a:p>
          <a:p>
            <a:pPr marL="0" lvl="1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Second level</a:t>
            </a:r>
          </a:p>
          <a:p>
            <a:pPr marL="0" lvl="2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Third level</a:t>
            </a:r>
          </a:p>
          <a:p>
            <a:pPr marL="0" lvl="3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Fourth level</a:t>
            </a:r>
          </a:p>
          <a:p>
            <a:pPr marL="0" lvl="4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1800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8BEEBAAA-29B5-4AF5-BC5F-7E580C29002D}" type="datetimeFigureOut">
              <a:rPr lang="en-US" smtClean="0"/>
              <a:pPr/>
              <a:t>2/23/2025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9860EDB8-5305-433F-BE41-D7A86D811DB3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txStyles>
    <p:titleStyle>
      <a:lvl1pPr algn="l" defTabSz="914400" rtl="0" eaLnBrk="1" latinLnBrk="0" hangingPunct="1"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16002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anchor="ctr" anchorCtr="0">
            <a:normAutofit/>
          </a:bodyPr>
          <a:lstStyle/>
          <a:p>
            <a:r>
              <a:rPr lang="en-US" sz="4800" dirty="0">
                <a:solidFill>
                  <a:schemeClr val="bg1"/>
                </a:solidFill>
              </a:rPr>
              <a:t>ECE 157B/272B Homework 3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bg1"/>
                </a:solidFill>
                <a:latin typeface="+mj-lt"/>
              </a:rPr>
              <a:t>Edward Ding</a:t>
            </a: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521207" y="448056"/>
            <a:ext cx="10612231" cy="640080"/>
          </a:xfrm>
        </p:spPr>
        <p:txBody>
          <a:bodyPr>
            <a:noAutofit/>
          </a:bodyPr>
          <a:lstStyle/>
          <a:p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Stable Diffusion - Text-to-Image Generation – without </a:t>
            </a:r>
            <a:r>
              <a:rPr lang="en-U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Promptist</a:t>
            </a:r>
            <a:endParaRPr lang="en-US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0CFBE8-8112-DE3A-321A-7D85CFC73C3D}"/>
              </a:ext>
            </a:extLst>
          </p:cNvPr>
          <p:cNvSpPr/>
          <p:nvPr/>
        </p:nvSpPr>
        <p:spPr>
          <a:xfrm>
            <a:off x="1288474" y="1463633"/>
            <a:ext cx="2072244" cy="19653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ECA0F0-C91F-DDBE-CA69-5697C873F717}"/>
              </a:ext>
            </a:extLst>
          </p:cNvPr>
          <p:cNvSpPr/>
          <p:nvPr/>
        </p:nvSpPr>
        <p:spPr>
          <a:xfrm>
            <a:off x="4920343" y="1463633"/>
            <a:ext cx="2072244" cy="19653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04944B-65FF-105F-5CF1-CE5E1B3069E4}"/>
              </a:ext>
            </a:extLst>
          </p:cNvPr>
          <p:cNvSpPr/>
          <p:nvPr/>
        </p:nvSpPr>
        <p:spPr>
          <a:xfrm>
            <a:off x="8328562" y="1463633"/>
            <a:ext cx="2072244" cy="19653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6991DC-90A8-21B1-E685-0F0FE02761D0}"/>
              </a:ext>
            </a:extLst>
          </p:cNvPr>
          <p:cNvSpPr/>
          <p:nvPr/>
        </p:nvSpPr>
        <p:spPr>
          <a:xfrm>
            <a:off x="1288474" y="4145916"/>
            <a:ext cx="2072244" cy="19653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0535332-948D-18C4-D2A2-5DDF6A8F0E79}"/>
              </a:ext>
            </a:extLst>
          </p:cNvPr>
          <p:cNvSpPr/>
          <p:nvPr/>
        </p:nvSpPr>
        <p:spPr>
          <a:xfrm>
            <a:off x="4808518" y="4145916"/>
            <a:ext cx="2072244" cy="19653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FB369F-DC6E-9EE3-526F-60ABB0F3E29E}"/>
              </a:ext>
            </a:extLst>
          </p:cNvPr>
          <p:cNvSpPr/>
          <p:nvPr/>
        </p:nvSpPr>
        <p:spPr>
          <a:xfrm>
            <a:off x="8328562" y="4145916"/>
            <a:ext cx="2072244" cy="19653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E1114C-3B56-4979-5E51-0D9692066BB8}"/>
              </a:ext>
            </a:extLst>
          </p:cNvPr>
          <p:cNvSpPr txBox="1"/>
          <p:nvPr/>
        </p:nvSpPr>
        <p:spPr>
          <a:xfrm>
            <a:off x="593767" y="3443849"/>
            <a:ext cx="340624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A </a:t>
            </a:r>
            <a:r>
              <a:rPr lang="en-US" sz="1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pikachu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fine dining with a view to the Eiffel Tower</a:t>
            </a:r>
            <a:endParaRPr lang="en-US" sz="14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algn="ctr"/>
            <a:endParaRPr lang="en-US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D24630-33AC-C408-1800-33EF72B1E065}"/>
              </a:ext>
            </a:extLst>
          </p:cNvPr>
          <p:cNvSpPr txBox="1"/>
          <p:nvPr/>
        </p:nvSpPr>
        <p:spPr>
          <a:xfrm>
            <a:off x="4266706" y="3486203"/>
            <a:ext cx="315586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A </a:t>
            </a:r>
            <a:r>
              <a:rPr lang="en-US" sz="14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pikachu</a:t>
            </a: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fine dining with a view to the Tower of London</a:t>
            </a:r>
            <a:endParaRPr lang="en-US" sz="14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algn="ctr"/>
            <a:endParaRPr lang="en-US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464A2-B8AD-D5FC-57AE-0E7C1EF4222D}"/>
              </a:ext>
            </a:extLst>
          </p:cNvPr>
          <p:cNvSpPr txBox="1"/>
          <p:nvPr/>
        </p:nvSpPr>
        <p:spPr>
          <a:xfrm>
            <a:off x="7856022" y="3561114"/>
            <a:ext cx="3017321" cy="4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425"/>
              </a:lnSpc>
            </a:pP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A walking, talking eggplant shopping at Trader Joe's</a:t>
            </a:r>
            <a:endParaRPr lang="en-US" sz="14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153DC0A-D25D-0DF9-CCF6-E3DD0B8D9A20}"/>
              </a:ext>
            </a:extLst>
          </p:cNvPr>
          <p:cNvSpPr txBox="1"/>
          <p:nvPr/>
        </p:nvSpPr>
        <p:spPr>
          <a:xfrm>
            <a:off x="1001240" y="6166170"/>
            <a:ext cx="2673432" cy="4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425"/>
              </a:lnSpc>
            </a:pPr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A person walking a dog through a park</a:t>
            </a:r>
            <a:endParaRPr lang="en-US" sz="14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41C7E6E-57D4-22C8-B04F-1F5179D349DC}"/>
              </a:ext>
            </a:extLst>
          </p:cNvPr>
          <p:cNvSpPr txBox="1"/>
          <p:nvPr/>
        </p:nvSpPr>
        <p:spPr>
          <a:xfrm>
            <a:off x="4311857" y="6166170"/>
            <a:ext cx="306556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A visual representation of a haiku</a:t>
            </a:r>
            <a:endParaRPr lang="en-US" sz="14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algn="ctr"/>
            <a:endParaRPr lang="en-US" sz="1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AD6A160-5D3E-66CC-27DF-C409F0F19B7F}"/>
              </a:ext>
            </a:extLst>
          </p:cNvPr>
          <p:cNvSpPr txBox="1"/>
          <p:nvPr/>
        </p:nvSpPr>
        <p:spPr>
          <a:xfrm>
            <a:off x="7856022" y="6131155"/>
            <a:ext cx="306556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Many ominous figures standing in a forest</a:t>
            </a:r>
            <a:endParaRPr lang="en-US" sz="14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algn="ctr"/>
            <a:endParaRPr lang="en-US" sz="1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BF5BB62-FA41-55D6-074E-B8234B2C67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0821" y="1463633"/>
            <a:ext cx="1974271" cy="197427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D3D4785-EA49-C1D5-10B0-852D920A80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7220" y="1463633"/>
            <a:ext cx="1965367" cy="196536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28DB5DD-2A0B-E024-B9A4-1D4D364C5F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1998" y="1463632"/>
            <a:ext cx="1965367" cy="196536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B79DD584-F66A-60F4-F9F7-815E7E60A1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9348" y="4156514"/>
            <a:ext cx="2012671" cy="201267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2D76445D-07BD-10E1-DA90-8BD352F56A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1174" y="4156514"/>
            <a:ext cx="1954769" cy="195476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F42E8693-C1EA-C196-BC23-141B27AB9D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1998" y="4145916"/>
            <a:ext cx="1965367" cy="1965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76161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521207" y="448056"/>
            <a:ext cx="10612231" cy="640080"/>
          </a:xfrm>
        </p:spPr>
        <p:txBody>
          <a:bodyPr>
            <a:noAutofit/>
          </a:bodyPr>
          <a:lstStyle/>
          <a:p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Stable Diffusion - Text-to-Image Generation – with </a:t>
            </a:r>
            <a:r>
              <a:rPr lang="en-U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Promptist</a:t>
            </a:r>
            <a:endParaRPr lang="en-US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0CFBE8-8112-DE3A-321A-7D85CFC73C3D}"/>
              </a:ext>
            </a:extLst>
          </p:cNvPr>
          <p:cNvSpPr/>
          <p:nvPr/>
        </p:nvSpPr>
        <p:spPr>
          <a:xfrm>
            <a:off x="1128157" y="1463633"/>
            <a:ext cx="2072244" cy="19653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ECA0F0-C91F-DDBE-CA69-5697C873F717}"/>
              </a:ext>
            </a:extLst>
          </p:cNvPr>
          <p:cNvSpPr/>
          <p:nvPr/>
        </p:nvSpPr>
        <p:spPr>
          <a:xfrm>
            <a:off x="4760027" y="1463633"/>
            <a:ext cx="2072244" cy="19653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04944B-65FF-105F-5CF1-CE5E1B3069E4}"/>
              </a:ext>
            </a:extLst>
          </p:cNvPr>
          <p:cNvSpPr/>
          <p:nvPr/>
        </p:nvSpPr>
        <p:spPr>
          <a:xfrm>
            <a:off x="8168245" y="1463633"/>
            <a:ext cx="2072244" cy="19653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6991DC-90A8-21B1-E685-0F0FE02761D0}"/>
              </a:ext>
            </a:extLst>
          </p:cNvPr>
          <p:cNvSpPr/>
          <p:nvPr/>
        </p:nvSpPr>
        <p:spPr>
          <a:xfrm>
            <a:off x="1128157" y="4145916"/>
            <a:ext cx="2072244" cy="19653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0535332-948D-18C4-D2A2-5DDF6A8F0E79}"/>
              </a:ext>
            </a:extLst>
          </p:cNvPr>
          <p:cNvSpPr/>
          <p:nvPr/>
        </p:nvSpPr>
        <p:spPr>
          <a:xfrm>
            <a:off x="4648201" y="4145916"/>
            <a:ext cx="2072244" cy="19653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FB369F-DC6E-9EE3-526F-60ABB0F3E29E}"/>
              </a:ext>
            </a:extLst>
          </p:cNvPr>
          <p:cNvSpPr/>
          <p:nvPr/>
        </p:nvSpPr>
        <p:spPr>
          <a:xfrm>
            <a:off x="8168245" y="4145916"/>
            <a:ext cx="2072244" cy="19653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E1114C-3B56-4979-5E51-0D9692066BB8}"/>
              </a:ext>
            </a:extLst>
          </p:cNvPr>
          <p:cNvSpPr txBox="1"/>
          <p:nvPr/>
        </p:nvSpPr>
        <p:spPr>
          <a:xfrm>
            <a:off x="484662" y="3438030"/>
            <a:ext cx="33592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A </a:t>
            </a:r>
            <a:r>
              <a:rPr lang="en-US" sz="1000" b="0" i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pikachu</a:t>
            </a:r>
            <a:r>
              <a:rPr lang="en-US" sz="10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 fine dining with a view to the Eiffel Tower. Using a </a:t>
            </a:r>
            <a:r>
              <a:rPr lang="en-US" sz="1000" b="0" i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pikachu</a:t>
            </a:r>
            <a:r>
              <a:rPr lang="en-US" sz="10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 at a </a:t>
            </a:r>
            <a:r>
              <a:rPr lang="en-US" sz="1000" b="0" i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pikachu</a:t>
            </a:r>
            <a:r>
              <a:rPr lang="en-US" sz="10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 offering food and shelter by </a:t>
            </a:r>
            <a:r>
              <a:rPr lang="en-US" sz="1000" b="0" i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Robinutkowski</a:t>
            </a:r>
            <a:r>
              <a:rPr lang="en-US" sz="10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, by </a:t>
            </a:r>
            <a:r>
              <a:rPr lang="en-US" sz="1000" b="0" i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stanley</a:t>
            </a:r>
            <a:r>
              <a:rPr lang="en-US" sz="10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i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artgerm</a:t>
            </a:r>
            <a:r>
              <a:rPr lang="en-US" sz="10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, by </a:t>
            </a:r>
            <a:r>
              <a:rPr lang="en-US" sz="1000" b="0" i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greg</a:t>
            </a:r>
            <a:r>
              <a:rPr lang="en-US" sz="10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i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rutkowski</a:t>
            </a:r>
            <a:r>
              <a:rPr lang="en-US" sz="10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sz="1000" dirty="0">
              <a:solidFill>
                <a:srgbClr val="FF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D24630-33AC-C408-1800-33EF72B1E065}"/>
              </a:ext>
            </a:extLst>
          </p:cNvPr>
          <p:cNvSpPr txBox="1"/>
          <p:nvPr/>
        </p:nvSpPr>
        <p:spPr>
          <a:xfrm>
            <a:off x="4106389" y="3356571"/>
            <a:ext cx="3155868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A </a:t>
            </a:r>
            <a:r>
              <a:rPr lang="en-US" sz="1000" b="0" i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pikachu</a:t>
            </a:r>
            <a:r>
              <a:rPr lang="en-US" sz="10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 fine dining with a view to the Tower of London by Naoto Shinkai, Ruan Jia and Kenneth </a:t>
            </a:r>
            <a:r>
              <a:rPr lang="en-US" sz="1000" b="0" i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Loracter</a:t>
            </a:r>
            <a:r>
              <a:rPr lang="en-US" sz="10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 Frank </a:t>
            </a:r>
            <a:r>
              <a:rPr lang="en-US" sz="1000" b="0" i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Frazetta</a:t>
            </a:r>
            <a:r>
              <a:rPr lang="en-US" sz="10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 Greg Rutkowski digital painting, trending on </a:t>
            </a:r>
            <a:r>
              <a:rPr lang="en-US" sz="1000" b="0" i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artstation</a:t>
            </a:r>
            <a:r>
              <a:rPr lang="en-US" sz="10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 °C by Isaac Clarke and </a:t>
            </a:r>
            <a:r>
              <a:rPr lang="en-US" sz="1000" b="0" i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Ar</a:t>
            </a:r>
            <a:endParaRPr lang="en-US" sz="1000" dirty="0">
              <a:solidFill>
                <a:srgbClr val="FF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464A2-B8AD-D5FC-57AE-0E7C1EF4222D}"/>
              </a:ext>
            </a:extLst>
          </p:cNvPr>
          <p:cNvSpPr txBox="1"/>
          <p:nvPr/>
        </p:nvSpPr>
        <p:spPr>
          <a:xfrm>
            <a:off x="7262257" y="3450554"/>
            <a:ext cx="395992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A walking, talking eggplant shopping at Trader Joes at midnight. Elegant. independent painting. 3D illustration. Trending on </a:t>
            </a:r>
            <a:r>
              <a:rPr lang="en-US" sz="1000" b="0" i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artstation</a:t>
            </a:r>
            <a:r>
              <a:rPr lang="en-US" sz="10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. Greg Rutkowski + Ola Fitzgerald 8k</a:t>
            </a:r>
            <a:endParaRPr lang="en-US" sz="1000" dirty="0">
              <a:solidFill>
                <a:srgbClr val="FF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153DC0A-D25D-0DF9-CCF6-E3DD0B8D9A20}"/>
              </a:ext>
            </a:extLst>
          </p:cNvPr>
          <p:cNvSpPr txBox="1"/>
          <p:nvPr/>
        </p:nvSpPr>
        <p:spPr>
          <a:xfrm>
            <a:off x="72736" y="6152642"/>
            <a:ext cx="42394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A person walking a dog through a park with a dog walking through a park with a park, illustrated by Greg Rutkowski, Craig Mullins, </a:t>
            </a:r>
            <a:r>
              <a:rPr lang="en-US" sz="1000" b="0" i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artstation</a:t>
            </a:r>
            <a:r>
              <a:rPr lang="en-US" sz="10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, 4k, digital art, high detail, epic composition, dark</a:t>
            </a:r>
            <a:endParaRPr lang="en-US" sz="1000" dirty="0">
              <a:solidFill>
                <a:srgbClr val="FF000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41C7E6E-57D4-22C8-B04F-1F5179D349DC}"/>
              </a:ext>
            </a:extLst>
          </p:cNvPr>
          <p:cNvSpPr txBox="1"/>
          <p:nvPr/>
        </p:nvSpPr>
        <p:spPr>
          <a:xfrm>
            <a:off x="4023756" y="6075698"/>
            <a:ext cx="352895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A visual representation of a haiku by Greg Rutkowski and Fabian </a:t>
            </a:r>
            <a:r>
              <a:rPr lang="en-US" sz="1000" b="0" i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Schönberger</a:t>
            </a:r>
            <a:r>
              <a:rPr lang="en-US" sz="10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, 27, highly detailed, cinematic contain, 30mm photography image, </a:t>
            </a:r>
            <a:r>
              <a:rPr lang="en-US" sz="1000" b="0" i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artstation</a:t>
            </a:r>
            <a:r>
              <a:rPr lang="en-US" sz="10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, cinematic lighting, 4k resolution, deep studio</a:t>
            </a:r>
            <a:endParaRPr lang="en-US" sz="1000" dirty="0">
              <a:solidFill>
                <a:srgbClr val="FF000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AD6A160-5D3E-66CC-27DF-C409F0F19B7F}"/>
              </a:ext>
            </a:extLst>
          </p:cNvPr>
          <p:cNvSpPr txBox="1"/>
          <p:nvPr/>
        </p:nvSpPr>
        <p:spPr>
          <a:xfrm>
            <a:off x="7564087" y="6099983"/>
            <a:ext cx="330628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0" i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Many ominous figures standing in a forest guarded by settlers, tall buildings and plants on it, with tall buildings and impenetrable movers, surrounded by a moat.</a:t>
            </a:r>
            <a:endParaRPr lang="en-US" sz="1000" dirty="0">
              <a:solidFill>
                <a:srgbClr val="FF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D9DFF5E-B80F-3D81-6E0F-AF99C6808E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5321" y="1572043"/>
            <a:ext cx="1824628" cy="182462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19EBEE6-42AF-F9E9-6AB9-C1DB258267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885954" y="1521025"/>
            <a:ext cx="1835546" cy="183554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9D15B86-EAA8-24BA-1795-A919A14C24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9535" y="1458012"/>
            <a:ext cx="1965367" cy="196536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25501730-9B55-D531-6920-E39838FF6C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7614" y="4187275"/>
            <a:ext cx="1872335" cy="187233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6CA877E7-5454-94EE-6A52-C7B5366EA47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1640" y="4158440"/>
            <a:ext cx="1965367" cy="1965367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4C91AE64-EC3F-4D92-002E-7D0A0D69F9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0590" y="4154482"/>
            <a:ext cx="1973282" cy="1973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8330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656289" y="385711"/>
            <a:ext cx="10612231" cy="640080"/>
          </a:xfrm>
        </p:spPr>
        <p:txBody>
          <a:bodyPr>
            <a:noAutofit/>
          </a:bodyPr>
          <a:lstStyle/>
          <a:p>
            <a:r>
              <a:rPr lang="en-U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DreamBooth</a:t>
            </a:r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 – Adding a Person to the Model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5A2273-5958-98CF-E784-F864845AD8B8}"/>
              </a:ext>
            </a:extLst>
          </p:cNvPr>
          <p:cNvSpPr txBox="1"/>
          <p:nvPr/>
        </p:nvSpPr>
        <p:spPr>
          <a:xfrm>
            <a:off x="1015340" y="1644732"/>
            <a:ext cx="8528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Screenshots of the folder containing the training images of the person you choose</a:t>
            </a:r>
          </a:p>
        </p:txBody>
      </p:sp>
    </p:spTree>
    <p:extLst>
      <p:ext uri="{BB962C8B-B14F-4D97-AF65-F5344CB8AC3E}">
        <p14:creationId xmlns:p14="http://schemas.microsoft.com/office/powerpoint/2010/main" val="2611693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521207" y="448056"/>
            <a:ext cx="10612231" cy="640080"/>
          </a:xfrm>
        </p:spPr>
        <p:txBody>
          <a:bodyPr>
            <a:noAutofit/>
          </a:bodyPr>
          <a:lstStyle/>
          <a:p>
            <a:r>
              <a:rPr lang="en-U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DreamBooth</a:t>
            </a:r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 – Adding a Person to the Model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5A2273-5958-98CF-E784-F864845AD8B8}"/>
              </a:ext>
            </a:extLst>
          </p:cNvPr>
          <p:cNvSpPr txBox="1"/>
          <p:nvPr/>
        </p:nvSpPr>
        <p:spPr>
          <a:xfrm>
            <a:off x="760020" y="1591293"/>
            <a:ext cx="10753107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Your training parameters</a:t>
            </a:r>
          </a:p>
          <a:p>
            <a:pPr marL="285750" indent="-285750">
              <a:buFontTx/>
              <a:buChar char="-"/>
            </a:pPr>
            <a:r>
              <a:rPr lang="en-US" dirty="0" err="1"/>
              <a:t>num_class_images</a:t>
            </a:r>
            <a:r>
              <a:rPr lang="en-US" dirty="0"/>
              <a:t>: ####</a:t>
            </a:r>
          </a:p>
          <a:p>
            <a:pPr marL="285750" indent="-285750">
              <a:buFontTx/>
              <a:buChar char="-"/>
            </a:pPr>
            <a:r>
              <a:rPr lang="en-US" dirty="0" err="1"/>
              <a:t>max_training_steps</a:t>
            </a:r>
            <a:r>
              <a:rPr lang="en-US" dirty="0"/>
              <a:t>: ###</a:t>
            </a:r>
          </a:p>
          <a:p>
            <a:pPr marL="285750" indent="-285750">
              <a:buFontTx/>
              <a:buChar char="-"/>
            </a:pPr>
            <a:r>
              <a:rPr lang="en-US" dirty="0" err="1"/>
              <a:t>learning_rate</a:t>
            </a:r>
            <a:r>
              <a:rPr lang="en-US" dirty="0"/>
              <a:t>: #.######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r>
              <a:rPr lang="en-US" dirty="0"/>
              <a:t>The checkpoint number that gave you the best model: ### 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r>
              <a:rPr lang="en-US" dirty="0"/>
              <a:t>Inference parameters:</a:t>
            </a:r>
          </a:p>
          <a:p>
            <a:pPr marL="285750" indent="-285750">
              <a:buFontTx/>
              <a:buChar char="-"/>
            </a:pPr>
            <a:r>
              <a:rPr lang="en-US" dirty="0" err="1"/>
              <a:t>scheduler_name</a:t>
            </a:r>
            <a:r>
              <a:rPr lang="en-US" dirty="0"/>
              <a:t>:</a:t>
            </a:r>
          </a:p>
          <a:p>
            <a:pPr marL="285750" indent="-285750">
              <a:buFontTx/>
              <a:buChar char="-"/>
            </a:pPr>
            <a:r>
              <a:rPr lang="en-US" dirty="0" err="1"/>
              <a:t>num_inference_steps</a:t>
            </a:r>
            <a:r>
              <a:rPr lang="en-US" dirty="0"/>
              <a:t>:</a:t>
            </a:r>
          </a:p>
          <a:p>
            <a:pPr marL="285750" indent="-285750">
              <a:buFontTx/>
              <a:buChar char="-"/>
            </a:pPr>
            <a:r>
              <a:rPr lang="en-US" dirty="0" err="1"/>
              <a:t>guidance_scale</a:t>
            </a:r>
            <a:r>
              <a:rPr lang="en-US" dirty="0"/>
              <a:t>: 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24180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521207" y="448056"/>
            <a:ext cx="10612231" cy="640080"/>
          </a:xfrm>
        </p:spPr>
        <p:txBody>
          <a:bodyPr>
            <a:noAutofit/>
          </a:bodyPr>
          <a:lstStyle/>
          <a:p>
            <a:r>
              <a:rPr lang="en-U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DreamBooth</a:t>
            </a:r>
            <a:endParaRPr lang="en-US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0CFBE8-8112-DE3A-321A-7D85CFC73C3D}"/>
              </a:ext>
            </a:extLst>
          </p:cNvPr>
          <p:cNvSpPr/>
          <p:nvPr/>
        </p:nvSpPr>
        <p:spPr>
          <a:xfrm>
            <a:off x="1537854" y="2077965"/>
            <a:ext cx="1917866" cy="176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ECA0F0-C91F-DDBE-CA69-5697C873F717}"/>
              </a:ext>
            </a:extLst>
          </p:cNvPr>
          <p:cNvSpPr/>
          <p:nvPr/>
        </p:nvSpPr>
        <p:spPr>
          <a:xfrm>
            <a:off x="5113811" y="2077965"/>
            <a:ext cx="1917866" cy="176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04944B-65FF-105F-5CF1-CE5E1B3069E4}"/>
              </a:ext>
            </a:extLst>
          </p:cNvPr>
          <p:cNvSpPr/>
          <p:nvPr/>
        </p:nvSpPr>
        <p:spPr>
          <a:xfrm>
            <a:off x="8577942" y="2077965"/>
            <a:ext cx="1917866" cy="176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6991DC-90A8-21B1-E685-0F0FE02761D0}"/>
              </a:ext>
            </a:extLst>
          </p:cNvPr>
          <p:cNvSpPr/>
          <p:nvPr/>
        </p:nvSpPr>
        <p:spPr>
          <a:xfrm>
            <a:off x="1537854" y="4473793"/>
            <a:ext cx="1917866" cy="176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0535332-948D-18C4-D2A2-5DDF6A8F0E79}"/>
              </a:ext>
            </a:extLst>
          </p:cNvPr>
          <p:cNvSpPr/>
          <p:nvPr/>
        </p:nvSpPr>
        <p:spPr>
          <a:xfrm>
            <a:off x="5113811" y="4473793"/>
            <a:ext cx="1917866" cy="176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FB369F-DC6E-9EE3-526F-60ABB0F3E29E}"/>
              </a:ext>
            </a:extLst>
          </p:cNvPr>
          <p:cNvSpPr/>
          <p:nvPr/>
        </p:nvSpPr>
        <p:spPr>
          <a:xfrm>
            <a:off x="8577942" y="4473793"/>
            <a:ext cx="1917866" cy="176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E1114C-3B56-4979-5E51-0D9692066BB8}"/>
              </a:ext>
            </a:extLst>
          </p:cNvPr>
          <p:cNvSpPr txBox="1"/>
          <p:nvPr/>
        </p:nvSpPr>
        <p:spPr>
          <a:xfrm>
            <a:off x="1713016" y="3964473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D24630-33AC-C408-1800-33EF72B1E065}"/>
              </a:ext>
            </a:extLst>
          </p:cNvPr>
          <p:cNvSpPr txBox="1"/>
          <p:nvPr/>
        </p:nvSpPr>
        <p:spPr>
          <a:xfrm>
            <a:off x="5288973" y="3964473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464A2-B8AD-D5FC-57AE-0E7C1EF4222D}"/>
              </a:ext>
            </a:extLst>
          </p:cNvPr>
          <p:cNvSpPr txBox="1"/>
          <p:nvPr/>
        </p:nvSpPr>
        <p:spPr>
          <a:xfrm>
            <a:off x="8753104" y="3964473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153DC0A-D25D-0DF9-CCF6-E3DD0B8D9A20}"/>
              </a:ext>
            </a:extLst>
          </p:cNvPr>
          <p:cNvSpPr txBox="1"/>
          <p:nvPr/>
        </p:nvSpPr>
        <p:spPr>
          <a:xfrm>
            <a:off x="1713016" y="6282902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41C7E6E-57D4-22C8-B04F-1F5179D349DC}"/>
              </a:ext>
            </a:extLst>
          </p:cNvPr>
          <p:cNvSpPr txBox="1"/>
          <p:nvPr/>
        </p:nvSpPr>
        <p:spPr>
          <a:xfrm>
            <a:off x="5288973" y="6282902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AD6A160-5D3E-66CC-27DF-C409F0F19B7F}"/>
              </a:ext>
            </a:extLst>
          </p:cNvPr>
          <p:cNvSpPr txBox="1"/>
          <p:nvPr/>
        </p:nvSpPr>
        <p:spPr>
          <a:xfrm>
            <a:off x="8753104" y="6282902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4D0B43-7FC6-99A7-B6D1-16AF7824D1EF}"/>
              </a:ext>
            </a:extLst>
          </p:cNvPr>
          <p:cNvSpPr txBox="1"/>
          <p:nvPr/>
        </p:nvSpPr>
        <p:spPr>
          <a:xfrm>
            <a:off x="613560" y="1285753"/>
            <a:ext cx="1133895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12 images of the person you trained on in various contexts (e.g. different hair color, outfit, background, art style, etc...) along with their respective prompts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69428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521207" y="448056"/>
            <a:ext cx="10612231" cy="640080"/>
          </a:xfrm>
        </p:spPr>
        <p:txBody>
          <a:bodyPr>
            <a:noAutofit/>
          </a:bodyPr>
          <a:lstStyle/>
          <a:p>
            <a:r>
              <a:rPr lang="en-U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DreamBooth</a:t>
            </a:r>
            <a:endParaRPr lang="en-US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0CFBE8-8112-DE3A-321A-7D85CFC73C3D}"/>
              </a:ext>
            </a:extLst>
          </p:cNvPr>
          <p:cNvSpPr/>
          <p:nvPr/>
        </p:nvSpPr>
        <p:spPr>
          <a:xfrm>
            <a:off x="1537854" y="2077965"/>
            <a:ext cx="1917866" cy="176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ECA0F0-C91F-DDBE-CA69-5697C873F717}"/>
              </a:ext>
            </a:extLst>
          </p:cNvPr>
          <p:cNvSpPr/>
          <p:nvPr/>
        </p:nvSpPr>
        <p:spPr>
          <a:xfrm>
            <a:off x="5113811" y="2077965"/>
            <a:ext cx="1917866" cy="176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04944B-65FF-105F-5CF1-CE5E1B3069E4}"/>
              </a:ext>
            </a:extLst>
          </p:cNvPr>
          <p:cNvSpPr/>
          <p:nvPr/>
        </p:nvSpPr>
        <p:spPr>
          <a:xfrm>
            <a:off x="8577942" y="2077965"/>
            <a:ext cx="1917866" cy="176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6991DC-90A8-21B1-E685-0F0FE02761D0}"/>
              </a:ext>
            </a:extLst>
          </p:cNvPr>
          <p:cNvSpPr/>
          <p:nvPr/>
        </p:nvSpPr>
        <p:spPr>
          <a:xfrm>
            <a:off x="1537854" y="4473793"/>
            <a:ext cx="1917866" cy="176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0535332-948D-18C4-D2A2-5DDF6A8F0E79}"/>
              </a:ext>
            </a:extLst>
          </p:cNvPr>
          <p:cNvSpPr/>
          <p:nvPr/>
        </p:nvSpPr>
        <p:spPr>
          <a:xfrm>
            <a:off x="5113811" y="4473793"/>
            <a:ext cx="1917866" cy="176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FB369F-DC6E-9EE3-526F-60ABB0F3E29E}"/>
              </a:ext>
            </a:extLst>
          </p:cNvPr>
          <p:cNvSpPr/>
          <p:nvPr/>
        </p:nvSpPr>
        <p:spPr>
          <a:xfrm>
            <a:off x="8577942" y="4473793"/>
            <a:ext cx="1917866" cy="176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E1114C-3B56-4979-5E51-0D9692066BB8}"/>
              </a:ext>
            </a:extLst>
          </p:cNvPr>
          <p:cNvSpPr txBox="1"/>
          <p:nvPr/>
        </p:nvSpPr>
        <p:spPr>
          <a:xfrm>
            <a:off x="1713016" y="3964473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D24630-33AC-C408-1800-33EF72B1E065}"/>
              </a:ext>
            </a:extLst>
          </p:cNvPr>
          <p:cNvSpPr txBox="1"/>
          <p:nvPr/>
        </p:nvSpPr>
        <p:spPr>
          <a:xfrm>
            <a:off x="5288973" y="3964473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464A2-B8AD-D5FC-57AE-0E7C1EF4222D}"/>
              </a:ext>
            </a:extLst>
          </p:cNvPr>
          <p:cNvSpPr txBox="1"/>
          <p:nvPr/>
        </p:nvSpPr>
        <p:spPr>
          <a:xfrm>
            <a:off x="8753104" y="3964473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153DC0A-D25D-0DF9-CCF6-E3DD0B8D9A20}"/>
              </a:ext>
            </a:extLst>
          </p:cNvPr>
          <p:cNvSpPr txBox="1"/>
          <p:nvPr/>
        </p:nvSpPr>
        <p:spPr>
          <a:xfrm>
            <a:off x="1713016" y="6282902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41C7E6E-57D4-22C8-B04F-1F5179D349DC}"/>
              </a:ext>
            </a:extLst>
          </p:cNvPr>
          <p:cNvSpPr txBox="1"/>
          <p:nvPr/>
        </p:nvSpPr>
        <p:spPr>
          <a:xfrm>
            <a:off x="5288973" y="6282902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AD6A160-5D3E-66CC-27DF-C409F0F19B7F}"/>
              </a:ext>
            </a:extLst>
          </p:cNvPr>
          <p:cNvSpPr txBox="1"/>
          <p:nvPr/>
        </p:nvSpPr>
        <p:spPr>
          <a:xfrm>
            <a:off x="8753104" y="6282902"/>
            <a:ext cx="1567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Prompt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4D0B43-7FC6-99A7-B6D1-16AF7824D1EF}"/>
              </a:ext>
            </a:extLst>
          </p:cNvPr>
          <p:cNvSpPr txBox="1"/>
          <p:nvPr/>
        </p:nvSpPr>
        <p:spPr>
          <a:xfrm>
            <a:off x="613560" y="1285753"/>
            <a:ext cx="1133895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12 images of the person you trained on in various contexts (e.g. different hair color, outfit, background, art style, etc...) along with their respective prompts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7824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10001108_Welcome to Powerpoint 2016_CLR_v2" id="{CAB9082A-965C-42BE-8170-C940D3319B60}" vid="{82B84162-888A-4FD2-BEC9-B29B6DB2C73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8a52e8c320b9a064ae3583ae3861c9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8020cb39231a0945110f9cd888b521a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D7FC771-7DFE-49DA-B577-71181BFBCB2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50072C5-DDE0-4258-BA7A-4D4B80DFA632}">
  <ds:schemaRefs>
    <ds:schemaRef ds:uri="http://schemas.microsoft.com/office/infopath/2007/PartnerControls"/>
    <ds:schemaRef ds:uri="http://schemas.microsoft.com/office/2006/documentManagement/types"/>
    <ds:schemaRef ds:uri="http://purl.org/dc/dcmitype/"/>
    <ds:schemaRef ds:uri="http://schemas.microsoft.com/office/2006/metadata/properties"/>
    <ds:schemaRef ds:uri="71af3243-3dd4-4a8d-8c0d-dd76da1f02a5"/>
    <ds:schemaRef ds:uri="http://www.w3.org/XML/1998/namespace"/>
    <ds:schemaRef ds:uri="http://purl.org/dc/elements/1.1/"/>
    <ds:schemaRef ds:uri="http://schemas.openxmlformats.org/package/2006/metadata/core-properties"/>
    <ds:schemaRef ds:uri="16c05727-aa75-4e4a-9b5f-8a80a1165891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7EE8C63A-4744-4DE4-BB49-0FF0B5375C6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Welcome to PowerPoint</Template>
  <TotalTime>0</TotalTime>
  <Words>446</Words>
  <Application>Microsoft Office PowerPoint</Application>
  <PresentationFormat>Widescreen</PresentationFormat>
  <Paragraphs>48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Calibri</vt:lpstr>
      <vt:lpstr>Consolas</vt:lpstr>
      <vt:lpstr>Segoe UI</vt:lpstr>
      <vt:lpstr>Segoe UI Light</vt:lpstr>
      <vt:lpstr>WelcomeDoc</vt:lpstr>
      <vt:lpstr>ECE 157B/272B Homework 3</vt:lpstr>
      <vt:lpstr>Stable Diffusion - Text-to-Image Generation – without Promptist</vt:lpstr>
      <vt:lpstr>Stable Diffusion - Text-to-Image Generation – with Promptist</vt:lpstr>
      <vt:lpstr>DreamBooth – Adding a Person to the Model</vt:lpstr>
      <vt:lpstr>DreamBooth – Adding a Person to the Model</vt:lpstr>
      <vt:lpstr>DreamBooth</vt:lpstr>
      <vt:lpstr>DreamBooth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/>
  <cp:revision>1</cp:revision>
  <dcterms:created xsi:type="dcterms:W3CDTF">2023-01-24T21:25:40Z</dcterms:created>
  <dcterms:modified xsi:type="dcterms:W3CDTF">2025-02-24T02:11:07Z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