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0" r:id="rId4"/>
  </p:sldMasterIdLst>
  <p:notesMasterIdLst>
    <p:notesMasterId r:id="rId12"/>
  </p:notesMasterIdLst>
  <p:handoutMasterIdLst>
    <p:handoutMasterId r:id="rId13"/>
  </p:handoutMasterIdLst>
  <p:sldIdLst>
    <p:sldId id="256" r:id="rId5"/>
    <p:sldId id="271" r:id="rId6"/>
    <p:sldId id="272" r:id="rId7"/>
    <p:sldId id="273" r:id="rId8"/>
    <p:sldId id="274" r:id="rId9"/>
    <p:sldId id="275" r:id="rId10"/>
    <p:sldId id="27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524" autoAdjust="0"/>
    <p:restoredTop sz="94241" autoAdjust="0"/>
  </p:normalViewPr>
  <p:slideViewPr>
    <p:cSldViewPr snapToGrid="0">
      <p:cViewPr>
        <p:scale>
          <a:sx n="95" d="100"/>
          <a:sy n="95" d="100"/>
        </p:scale>
        <p:origin x="-120" y="8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2/24/25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2/24/25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2/24/25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anchor="ctr" anchorCtr="0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ECE 157B/272B Homework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+mj-lt"/>
              </a:rPr>
              <a:t>Edward Ding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21207" y="448056"/>
            <a:ext cx="10612231" cy="640080"/>
          </a:xfrm>
        </p:spPr>
        <p:txBody>
          <a:bodyPr>
            <a:noAutofit/>
          </a:bodyPr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Stable Diffusion - Text-to-Image Generation – without </a:t>
            </a:r>
            <a:r>
              <a:rPr lang="en-US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Promptist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0CFBE8-8112-DE3A-321A-7D85CFC73C3D}"/>
              </a:ext>
            </a:extLst>
          </p:cNvPr>
          <p:cNvSpPr/>
          <p:nvPr/>
        </p:nvSpPr>
        <p:spPr>
          <a:xfrm>
            <a:off x="1288474" y="1463633"/>
            <a:ext cx="2072244" cy="19653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ECA0F0-C91F-DDBE-CA69-5697C873F717}"/>
              </a:ext>
            </a:extLst>
          </p:cNvPr>
          <p:cNvSpPr/>
          <p:nvPr/>
        </p:nvSpPr>
        <p:spPr>
          <a:xfrm>
            <a:off x="4920343" y="1463633"/>
            <a:ext cx="2072244" cy="19653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04944B-65FF-105F-5CF1-CE5E1B3069E4}"/>
              </a:ext>
            </a:extLst>
          </p:cNvPr>
          <p:cNvSpPr/>
          <p:nvPr/>
        </p:nvSpPr>
        <p:spPr>
          <a:xfrm>
            <a:off x="8328562" y="1463633"/>
            <a:ext cx="2072244" cy="19653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6991DC-90A8-21B1-E685-0F0FE02761D0}"/>
              </a:ext>
            </a:extLst>
          </p:cNvPr>
          <p:cNvSpPr/>
          <p:nvPr/>
        </p:nvSpPr>
        <p:spPr>
          <a:xfrm>
            <a:off x="1288474" y="4145916"/>
            <a:ext cx="2072244" cy="19653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535332-948D-18C4-D2A2-5DDF6A8F0E79}"/>
              </a:ext>
            </a:extLst>
          </p:cNvPr>
          <p:cNvSpPr/>
          <p:nvPr/>
        </p:nvSpPr>
        <p:spPr>
          <a:xfrm>
            <a:off x="4808518" y="4145916"/>
            <a:ext cx="2072244" cy="19653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FB369F-DC6E-9EE3-526F-60ABB0F3E29E}"/>
              </a:ext>
            </a:extLst>
          </p:cNvPr>
          <p:cNvSpPr/>
          <p:nvPr/>
        </p:nvSpPr>
        <p:spPr>
          <a:xfrm>
            <a:off x="8328562" y="4145916"/>
            <a:ext cx="2072244" cy="19653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E1114C-3B56-4979-5E51-0D9692066BB8}"/>
              </a:ext>
            </a:extLst>
          </p:cNvPr>
          <p:cNvSpPr txBox="1"/>
          <p:nvPr/>
        </p:nvSpPr>
        <p:spPr>
          <a:xfrm>
            <a:off x="593767" y="3443849"/>
            <a:ext cx="34062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 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pikachu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fine dining with a view to the Eiffel Tower</a:t>
            </a: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algn="ctr"/>
            <a:endParaRPr 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D24630-33AC-C408-1800-33EF72B1E065}"/>
              </a:ext>
            </a:extLst>
          </p:cNvPr>
          <p:cNvSpPr txBox="1"/>
          <p:nvPr/>
        </p:nvSpPr>
        <p:spPr>
          <a:xfrm>
            <a:off x="4266706" y="3486203"/>
            <a:ext cx="31558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 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pikachu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fine dining with a view to the Tower of London</a:t>
            </a: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algn="ctr"/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D464A2-B8AD-D5FC-57AE-0E7C1EF4222D}"/>
              </a:ext>
            </a:extLst>
          </p:cNvPr>
          <p:cNvSpPr txBox="1"/>
          <p:nvPr/>
        </p:nvSpPr>
        <p:spPr>
          <a:xfrm>
            <a:off x="7856022" y="3561114"/>
            <a:ext cx="3017321" cy="4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</a:pP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 walking, talking eggplant shopping at Trader Joe's</a:t>
            </a: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53DC0A-D25D-0DF9-CCF6-E3DD0B8D9A20}"/>
              </a:ext>
            </a:extLst>
          </p:cNvPr>
          <p:cNvSpPr txBox="1"/>
          <p:nvPr/>
        </p:nvSpPr>
        <p:spPr>
          <a:xfrm>
            <a:off x="1001240" y="6166170"/>
            <a:ext cx="2673432" cy="4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</a:pP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 person walking a dog through a park</a:t>
            </a: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1C7E6E-57D4-22C8-B04F-1F5179D349DC}"/>
              </a:ext>
            </a:extLst>
          </p:cNvPr>
          <p:cNvSpPr txBox="1"/>
          <p:nvPr/>
        </p:nvSpPr>
        <p:spPr>
          <a:xfrm>
            <a:off x="4311857" y="6166170"/>
            <a:ext cx="30655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 visual representation of a haiku</a:t>
            </a: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algn="ctr"/>
            <a:endParaRPr 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D6A160-5D3E-66CC-27DF-C409F0F19B7F}"/>
              </a:ext>
            </a:extLst>
          </p:cNvPr>
          <p:cNvSpPr txBox="1"/>
          <p:nvPr/>
        </p:nvSpPr>
        <p:spPr>
          <a:xfrm>
            <a:off x="7856022" y="6131155"/>
            <a:ext cx="30655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Many ominous figures standing in a forest</a:t>
            </a: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algn="ctr"/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F5BB62-FA41-55D6-074E-B8234B2C6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821" y="1463633"/>
            <a:ext cx="1974271" cy="19742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3D4785-EA49-C1D5-10B0-852D920A8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7220" y="1463633"/>
            <a:ext cx="1965367" cy="196536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28DB5DD-2A0B-E024-B9A4-1D4D364C5F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8" y="1463632"/>
            <a:ext cx="1965367" cy="196536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79DD584-F66A-60F4-F9F7-815E7E60A1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9348" y="4156514"/>
            <a:ext cx="2012671" cy="201267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D76445D-07BD-10E1-DA90-8BD352F56A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1174" y="4156514"/>
            <a:ext cx="1954769" cy="195476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42E8693-C1EA-C196-BC23-141B27AB9D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1998" y="4145916"/>
            <a:ext cx="1965367" cy="1965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21207" y="448056"/>
            <a:ext cx="10612231" cy="640080"/>
          </a:xfrm>
        </p:spPr>
        <p:txBody>
          <a:bodyPr>
            <a:noAutofit/>
          </a:bodyPr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Stable Diffusion - Text-to-Image Generation – with </a:t>
            </a:r>
            <a:r>
              <a:rPr lang="en-US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Promptist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0CFBE8-8112-DE3A-321A-7D85CFC73C3D}"/>
              </a:ext>
            </a:extLst>
          </p:cNvPr>
          <p:cNvSpPr/>
          <p:nvPr/>
        </p:nvSpPr>
        <p:spPr>
          <a:xfrm>
            <a:off x="1128157" y="1463633"/>
            <a:ext cx="2072244" cy="19653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ECA0F0-C91F-DDBE-CA69-5697C873F717}"/>
              </a:ext>
            </a:extLst>
          </p:cNvPr>
          <p:cNvSpPr/>
          <p:nvPr/>
        </p:nvSpPr>
        <p:spPr>
          <a:xfrm>
            <a:off x="4760027" y="1463633"/>
            <a:ext cx="2072244" cy="19653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04944B-65FF-105F-5CF1-CE5E1B3069E4}"/>
              </a:ext>
            </a:extLst>
          </p:cNvPr>
          <p:cNvSpPr/>
          <p:nvPr/>
        </p:nvSpPr>
        <p:spPr>
          <a:xfrm>
            <a:off x="8168245" y="1463633"/>
            <a:ext cx="2072244" cy="19653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6991DC-90A8-21B1-E685-0F0FE02761D0}"/>
              </a:ext>
            </a:extLst>
          </p:cNvPr>
          <p:cNvSpPr/>
          <p:nvPr/>
        </p:nvSpPr>
        <p:spPr>
          <a:xfrm>
            <a:off x="1128157" y="4145916"/>
            <a:ext cx="2072244" cy="19653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535332-948D-18C4-D2A2-5DDF6A8F0E79}"/>
              </a:ext>
            </a:extLst>
          </p:cNvPr>
          <p:cNvSpPr/>
          <p:nvPr/>
        </p:nvSpPr>
        <p:spPr>
          <a:xfrm>
            <a:off x="4648201" y="4145916"/>
            <a:ext cx="2072244" cy="19653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FB369F-DC6E-9EE3-526F-60ABB0F3E29E}"/>
              </a:ext>
            </a:extLst>
          </p:cNvPr>
          <p:cNvSpPr/>
          <p:nvPr/>
        </p:nvSpPr>
        <p:spPr>
          <a:xfrm>
            <a:off x="8168245" y="4145916"/>
            <a:ext cx="2072244" cy="19653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E1114C-3B56-4979-5E51-0D9692066BB8}"/>
              </a:ext>
            </a:extLst>
          </p:cNvPr>
          <p:cNvSpPr txBox="1"/>
          <p:nvPr/>
        </p:nvSpPr>
        <p:spPr>
          <a:xfrm>
            <a:off x="484662" y="3438030"/>
            <a:ext cx="33592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 </a:t>
            </a:r>
            <a:r>
              <a:rPr lang="en-US" sz="10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pikachu</a:t>
            </a:r>
            <a:r>
              <a:rPr lang="en-US" sz="1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fine dining with a view to the Eiffel Tower. Using a </a:t>
            </a:r>
            <a:r>
              <a:rPr lang="en-US" sz="10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pikachu</a:t>
            </a:r>
            <a:r>
              <a:rPr lang="en-US" sz="1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at a </a:t>
            </a:r>
            <a:r>
              <a:rPr lang="en-US" sz="10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pikachu</a:t>
            </a:r>
            <a:r>
              <a:rPr lang="en-US" sz="1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offering food and shelter by </a:t>
            </a:r>
            <a:r>
              <a:rPr lang="en-US" sz="10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Robinutkowski</a:t>
            </a:r>
            <a:r>
              <a:rPr lang="en-US" sz="1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, by </a:t>
            </a:r>
            <a:r>
              <a:rPr lang="en-US" sz="10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stanley</a:t>
            </a:r>
            <a:r>
              <a:rPr lang="en-US" sz="1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artgerm</a:t>
            </a:r>
            <a:r>
              <a:rPr lang="en-US" sz="1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, by </a:t>
            </a:r>
            <a:r>
              <a:rPr lang="en-US" sz="10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greg</a:t>
            </a:r>
            <a:r>
              <a:rPr lang="en-US" sz="1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rutkowski</a:t>
            </a:r>
            <a:r>
              <a:rPr lang="en-US" sz="1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D24630-33AC-C408-1800-33EF72B1E065}"/>
              </a:ext>
            </a:extLst>
          </p:cNvPr>
          <p:cNvSpPr txBox="1"/>
          <p:nvPr/>
        </p:nvSpPr>
        <p:spPr>
          <a:xfrm>
            <a:off x="4106389" y="3356571"/>
            <a:ext cx="315586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 </a:t>
            </a:r>
            <a:r>
              <a:rPr lang="en-US" sz="10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pikachu</a:t>
            </a:r>
            <a:r>
              <a:rPr lang="en-US" sz="1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fine dining with a view to the Tower of London by Naoto Shinkai, Ruan Jia and Kenneth </a:t>
            </a:r>
            <a:r>
              <a:rPr lang="en-US" sz="10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Loracter</a:t>
            </a:r>
            <a:r>
              <a:rPr lang="en-US" sz="1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Frank </a:t>
            </a:r>
            <a:r>
              <a:rPr lang="en-US" sz="10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Frazetta</a:t>
            </a:r>
            <a:r>
              <a:rPr lang="en-US" sz="1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Greg Rutkowski digital painting, trending on </a:t>
            </a:r>
            <a:r>
              <a:rPr lang="en-US" sz="10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artstation</a:t>
            </a:r>
            <a:r>
              <a:rPr lang="en-US" sz="1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°C by Isaac Clarke and </a:t>
            </a:r>
            <a:r>
              <a:rPr lang="en-US" sz="10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Ar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D464A2-B8AD-D5FC-57AE-0E7C1EF4222D}"/>
              </a:ext>
            </a:extLst>
          </p:cNvPr>
          <p:cNvSpPr txBox="1"/>
          <p:nvPr/>
        </p:nvSpPr>
        <p:spPr>
          <a:xfrm>
            <a:off x="7262257" y="3450554"/>
            <a:ext cx="39599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 walking, talking eggplant shopping at Trader Joes at midnight. Elegant. independent painting. 3D illustration. Trending on </a:t>
            </a:r>
            <a:r>
              <a:rPr lang="en-US" sz="10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artstation</a:t>
            </a:r>
            <a:r>
              <a:rPr lang="en-US" sz="1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. Greg Rutkowski + Ola Fitzgerald 8k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53DC0A-D25D-0DF9-CCF6-E3DD0B8D9A20}"/>
              </a:ext>
            </a:extLst>
          </p:cNvPr>
          <p:cNvSpPr txBox="1"/>
          <p:nvPr/>
        </p:nvSpPr>
        <p:spPr>
          <a:xfrm>
            <a:off x="72736" y="6152642"/>
            <a:ext cx="42394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 person walking a dog through a park with a dog walking through a park with a park, illustrated by Greg Rutkowski, Craig Mullins, </a:t>
            </a:r>
            <a:r>
              <a:rPr lang="en-US" sz="10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artstation</a:t>
            </a:r>
            <a:r>
              <a:rPr lang="en-US" sz="1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, 4k, digital art, high detail, epic composition, dark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1C7E6E-57D4-22C8-B04F-1F5179D349DC}"/>
              </a:ext>
            </a:extLst>
          </p:cNvPr>
          <p:cNvSpPr txBox="1"/>
          <p:nvPr/>
        </p:nvSpPr>
        <p:spPr>
          <a:xfrm>
            <a:off x="4023756" y="6075698"/>
            <a:ext cx="352895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 visual representation of a haiku by Greg Rutkowski and Fabian </a:t>
            </a:r>
            <a:r>
              <a:rPr lang="en-US" sz="10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Schönberger</a:t>
            </a:r>
            <a:r>
              <a:rPr lang="en-US" sz="1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, 27, highly detailed, cinematic contain, 30mm photography image, </a:t>
            </a:r>
            <a:r>
              <a:rPr lang="en-US" sz="10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artstation</a:t>
            </a:r>
            <a:r>
              <a:rPr lang="en-US" sz="1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, cinematic lighting, 4k resolution, deep studio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D6A160-5D3E-66CC-27DF-C409F0F19B7F}"/>
              </a:ext>
            </a:extLst>
          </p:cNvPr>
          <p:cNvSpPr txBox="1"/>
          <p:nvPr/>
        </p:nvSpPr>
        <p:spPr>
          <a:xfrm>
            <a:off x="7564087" y="6099983"/>
            <a:ext cx="33062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Many ominous figures standing in a forest guarded by settlers, tall buildings and plants on it, with tall buildings and impenetrable movers, surrounded by a moat.</a:t>
            </a:r>
            <a:endParaRPr lang="en-US" sz="1000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9DFF5E-B80F-3D81-6E0F-AF99C6808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321" y="1572043"/>
            <a:ext cx="1824628" cy="182462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19EBEE6-42AF-F9E9-6AB9-C1DB25826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885954" y="1521025"/>
            <a:ext cx="1835546" cy="183554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9D15B86-EAA8-24BA-1795-A919A14C24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9535" y="1458012"/>
            <a:ext cx="1965367" cy="196536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5501730-9B55-D531-6920-E39838FF6C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7614" y="4187275"/>
            <a:ext cx="1872335" cy="187233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CA877E7-5454-94EE-6A52-C7B5366EA4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1640" y="4158440"/>
            <a:ext cx="1965367" cy="196536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C91AE64-EC3F-4D92-002E-7D0A0D69F9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0590" y="4154482"/>
            <a:ext cx="1973282" cy="1973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330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56289" y="385711"/>
            <a:ext cx="10612231" cy="640080"/>
          </a:xfrm>
        </p:spPr>
        <p:txBody>
          <a:bodyPr>
            <a:noAutofit/>
          </a:bodyPr>
          <a:lstStyle/>
          <a:p>
            <a:r>
              <a:rPr lang="en-US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DreamBooth</a:t>
            </a: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 – Adding a Person to the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5A2273-5958-98CF-E784-F864845AD8B8}"/>
              </a:ext>
            </a:extLst>
          </p:cNvPr>
          <p:cNvSpPr txBox="1"/>
          <p:nvPr/>
        </p:nvSpPr>
        <p:spPr>
          <a:xfrm>
            <a:off x="817912" y="1256287"/>
            <a:ext cx="852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Screenshots of the folder containing the training images of the person you choose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C21674-7FA3-15F6-823C-D676D512C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276" y="1625619"/>
            <a:ext cx="8083253" cy="499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69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21207" y="448056"/>
            <a:ext cx="10612231" cy="640080"/>
          </a:xfrm>
        </p:spPr>
        <p:txBody>
          <a:bodyPr>
            <a:noAutofit/>
          </a:bodyPr>
          <a:lstStyle/>
          <a:p>
            <a:r>
              <a:rPr lang="en-US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DreamBooth</a:t>
            </a: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 – Adding a Person to the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5A2273-5958-98CF-E784-F864845AD8B8}"/>
              </a:ext>
            </a:extLst>
          </p:cNvPr>
          <p:cNvSpPr txBox="1"/>
          <p:nvPr/>
        </p:nvSpPr>
        <p:spPr>
          <a:xfrm>
            <a:off x="760020" y="1591293"/>
            <a:ext cx="1075310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Your training parameters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num_class_images</a:t>
            </a:r>
            <a:r>
              <a:rPr lang="en-US" dirty="0"/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1500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max_training_steps</a:t>
            </a:r>
            <a:r>
              <a:rPr lang="en-US" dirty="0"/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500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learning_rate</a:t>
            </a:r>
            <a:r>
              <a:rPr lang="en-US" dirty="0"/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0.000002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dirty="0"/>
              <a:t>The checkpoint number that gave you the best model: 400 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dirty="0"/>
              <a:t>Inference parameters: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scheduler_name</a:t>
            </a:r>
            <a:r>
              <a:rPr lang="en-US" dirty="0"/>
              <a:t>: </a:t>
            </a:r>
            <a:r>
              <a:rPr lang="en-US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DPMSolverMultistep</a:t>
            </a:r>
            <a:r>
              <a:rPr lang="en-US" dirty="0">
                <a:solidFill>
                  <a:srgbClr val="D4D4D4"/>
                </a:solidFill>
                <a:latin typeface="Menlo" panose="020B0609030804020204" pitchFamily="49" charset="0"/>
              </a:rPr>
              <a:t>, 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num_inference_steps</a:t>
            </a:r>
            <a:r>
              <a:rPr lang="en-US" dirty="0"/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50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guidance_scale</a:t>
            </a:r>
            <a:r>
              <a:rPr lang="en-US" dirty="0"/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7.5</a:t>
            </a:r>
            <a:endParaRPr lang="en-US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18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21207" y="448056"/>
            <a:ext cx="10612231" cy="640080"/>
          </a:xfrm>
        </p:spPr>
        <p:txBody>
          <a:bodyPr>
            <a:noAutofit/>
          </a:bodyPr>
          <a:lstStyle/>
          <a:p>
            <a:r>
              <a:rPr lang="en-US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DreamBooth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0CFBE8-8112-DE3A-321A-7D85CFC73C3D}"/>
              </a:ext>
            </a:extLst>
          </p:cNvPr>
          <p:cNvSpPr/>
          <p:nvPr/>
        </p:nvSpPr>
        <p:spPr>
          <a:xfrm>
            <a:off x="1537854" y="2077965"/>
            <a:ext cx="1917866" cy="1767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ECA0F0-C91F-DDBE-CA69-5697C873F717}"/>
              </a:ext>
            </a:extLst>
          </p:cNvPr>
          <p:cNvSpPr/>
          <p:nvPr/>
        </p:nvSpPr>
        <p:spPr>
          <a:xfrm>
            <a:off x="5113811" y="2077965"/>
            <a:ext cx="1917866" cy="1767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04944B-65FF-105F-5CF1-CE5E1B3069E4}"/>
              </a:ext>
            </a:extLst>
          </p:cNvPr>
          <p:cNvSpPr/>
          <p:nvPr/>
        </p:nvSpPr>
        <p:spPr>
          <a:xfrm>
            <a:off x="8577942" y="2077965"/>
            <a:ext cx="1917866" cy="1767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6991DC-90A8-21B1-E685-0F0FE02761D0}"/>
              </a:ext>
            </a:extLst>
          </p:cNvPr>
          <p:cNvSpPr/>
          <p:nvPr/>
        </p:nvSpPr>
        <p:spPr>
          <a:xfrm>
            <a:off x="1537854" y="4473793"/>
            <a:ext cx="1917866" cy="1767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535332-948D-18C4-D2A2-5DDF6A8F0E79}"/>
              </a:ext>
            </a:extLst>
          </p:cNvPr>
          <p:cNvSpPr/>
          <p:nvPr/>
        </p:nvSpPr>
        <p:spPr>
          <a:xfrm>
            <a:off x="5113811" y="4473793"/>
            <a:ext cx="1917866" cy="1767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FB369F-DC6E-9EE3-526F-60ABB0F3E29E}"/>
              </a:ext>
            </a:extLst>
          </p:cNvPr>
          <p:cNvSpPr/>
          <p:nvPr/>
        </p:nvSpPr>
        <p:spPr>
          <a:xfrm>
            <a:off x="8577942" y="4473793"/>
            <a:ext cx="1917866" cy="1767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E1114C-3B56-4979-5E51-0D9692066BB8}"/>
              </a:ext>
            </a:extLst>
          </p:cNvPr>
          <p:cNvSpPr txBox="1"/>
          <p:nvPr/>
        </p:nvSpPr>
        <p:spPr>
          <a:xfrm>
            <a:off x="1010165" y="3964473"/>
            <a:ext cx="30507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 </a:t>
            </a:r>
            <a:r>
              <a:rPr lang="en-US" sz="1400" dirty="0" err="1"/>
              <a:t>sks</a:t>
            </a:r>
            <a:r>
              <a:rPr lang="en-US" sz="1400" dirty="0"/>
              <a:t> person wearing chef uniform</a:t>
            </a:r>
          </a:p>
          <a:p>
            <a:pPr algn="ctr"/>
            <a:endParaRPr lang="en-US" sz="1400" dirty="0"/>
          </a:p>
          <a:p>
            <a:pPr algn="ctr"/>
            <a:endParaRPr 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D24630-33AC-C408-1800-33EF72B1E065}"/>
              </a:ext>
            </a:extLst>
          </p:cNvPr>
          <p:cNvSpPr txBox="1"/>
          <p:nvPr/>
        </p:nvSpPr>
        <p:spPr>
          <a:xfrm>
            <a:off x="4507699" y="3902918"/>
            <a:ext cx="31766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a 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sks</a:t>
            </a:r>
            <a:r>
              <a:rPr lang="en-US" sz="14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 person with hot pink hair</a:t>
            </a:r>
            <a:endParaRPr lang="en-US" sz="14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 algn="ctr"/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D464A2-B8AD-D5FC-57AE-0E7C1EF4222D}"/>
              </a:ext>
            </a:extLst>
          </p:cNvPr>
          <p:cNvSpPr txBox="1"/>
          <p:nvPr/>
        </p:nvSpPr>
        <p:spPr>
          <a:xfrm>
            <a:off x="8095187" y="3909214"/>
            <a:ext cx="28833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 </a:t>
            </a:r>
            <a:r>
              <a:rPr lang="en-US" sz="1400" dirty="0" err="1"/>
              <a:t>sks</a:t>
            </a:r>
            <a:r>
              <a:rPr lang="en-US" sz="1400" dirty="0"/>
              <a:t> person taking a hike in the forests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53DC0A-D25D-0DF9-CCF6-E3DD0B8D9A20}"/>
              </a:ext>
            </a:extLst>
          </p:cNvPr>
          <p:cNvSpPr txBox="1"/>
          <p:nvPr/>
        </p:nvSpPr>
        <p:spPr>
          <a:xfrm>
            <a:off x="947221" y="6285877"/>
            <a:ext cx="3176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 </a:t>
            </a:r>
            <a:r>
              <a:rPr lang="en-US" sz="1400" dirty="0" err="1"/>
              <a:t>sks</a:t>
            </a:r>
            <a:r>
              <a:rPr lang="en-US" sz="1400" dirty="0"/>
              <a:t> person wearing jogging gear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1C7E6E-57D4-22C8-B04F-1F5179D349DC}"/>
              </a:ext>
            </a:extLst>
          </p:cNvPr>
          <p:cNvSpPr txBox="1"/>
          <p:nvPr/>
        </p:nvSpPr>
        <p:spPr>
          <a:xfrm>
            <a:off x="4199707" y="6244669"/>
            <a:ext cx="38684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 </a:t>
            </a:r>
            <a:r>
              <a:rPr lang="en-US" sz="1400" dirty="0" err="1"/>
              <a:t>sks</a:t>
            </a:r>
            <a:r>
              <a:rPr lang="en-US" sz="1400" dirty="0"/>
              <a:t> person giving a passionate speech from a pulpit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D6A160-5D3E-66CC-27DF-C409F0F19B7F}"/>
              </a:ext>
            </a:extLst>
          </p:cNvPr>
          <p:cNvSpPr txBox="1"/>
          <p:nvPr/>
        </p:nvSpPr>
        <p:spPr>
          <a:xfrm>
            <a:off x="8278514" y="6282902"/>
            <a:ext cx="2491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 </a:t>
            </a:r>
            <a:r>
              <a:rPr lang="en-US" sz="1400" dirty="0" err="1"/>
              <a:t>sks</a:t>
            </a:r>
            <a:r>
              <a:rPr lang="en-US" sz="1400" dirty="0"/>
              <a:t> person sitting in a retirement home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4D0B43-7FC6-99A7-B6D1-16AF7824D1EF}"/>
              </a:ext>
            </a:extLst>
          </p:cNvPr>
          <p:cNvSpPr txBox="1"/>
          <p:nvPr/>
        </p:nvSpPr>
        <p:spPr>
          <a:xfrm>
            <a:off x="613560" y="1285753"/>
            <a:ext cx="1133895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12 images of the person you trained on in various contexts (e.g. different hair color, outfit, background, art style, etc...) along with their respective prompts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C27A74-3730-0B2B-16FA-49C10C71B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828" y="2119784"/>
            <a:ext cx="1743917" cy="174391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EB7EF16-2A22-1CAE-FA47-B7FCD6010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583" y="2077965"/>
            <a:ext cx="1726834" cy="172683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620A7A6-1F54-FA1B-2585-9332995922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5522" y="2088225"/>
            <a:ext cx="1742705" cy="174270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11450E6-5FB2-E738-F7B5-208E688263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2911" y="4473793"/>
            <a:ext cx="1767750" cy="176775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7DB4B13-40BB-46B7-09BD-6482484BF3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7932" y="4473793"/>
            <a:ext cx="1709623" cy="170962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0086E84-DBE4-5581-31E5-2DC7022030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0477" y="4473793"/>
            <a:ext cx="1767750" cy="176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942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21207" y="448056"/>
            <a:ext cx="10612231" cy="640080"/>
          </a:xfrm>
        </p:spPr>
        <p:txBody>
          <a:bodyPr>
            <a:noAutofit/>
          </a:bodyPr>
          <a:lstStyle/>
          <a:p>
            <a:r>
              <a:rPr lang="en-US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DreamBooth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0CFBE8-8112-DE3A-321A-7D85CFC73C3D}"/>
              </a:ext>
            </a:extLst>
          </p:cNvPr>
          <p:cNvSpPr/>
          <p:nvPr/>
        </p:nvSpPr>
        <p:spPr>
          <a:xfrm>
            <a:off x="1537854" y="2077965"/>
            <a:ext cx="1917866" cy="1767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ECA0F0-C91F-DDBE-CA69-5697C873F717}"/>
              </a:ext>
            </a:extLst>
          </p:cNvPr>
          <p:cNvSpPr/>
          <p:nvPr/>
        </p:nvSpPr>
        <p:spPr>
          <a:xfrm>
            <a:off x="5113811" y="2077965"/>
            <a:ext cx="1917866" cy="1767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04944B-65FF-105F-5CF1-CE5E1B3069E4}"/>
              </a:ext>
            </a:extLst>
          </p:cNvPr>
          <p:cNvSpPr/>
          <p:nvPr/>
        </p:nvSpPr>
        <p:spPr>
          <a:xfrm>
            <a:off x="8577942" y="2077965"/>
            <a:ext cx="1917866" cy="1767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6991DC-90A8-21B1-E685-0F0FE02761D0}"/>
              </a:ext>
            </a:extLst>
          </p:cNvPr>
          <p:cNvSpPr/>
          <p:nvPr/>
        </p:nvSpPr>
        <p:spPr>
          <a:xfrm>
            <a:off x="1537854" y="4473793"/>
            <a:ext cx="1917866" cy="1767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535332-948D-18C4-D2A2-5DDF6A8F0E79}"/>
              </a:ext>
            </a:extLst>
          </p:cNvPr>
          <p:cNvSpPr/>
          <p:nvPr/>
        </p:nvSpPr>
        <p:spPr>
          <a:xfrm>
            <a:off x="5113811" y="4473793"/>
            <a:ext cx="1917866" cy="1767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FB369F-DC6E-9EE3-526F-60ABB0F3E29E}"/>
              </a:ext>
            </a:extLst>
          </p:cNvPr>
          <p:cNvSpPr/>
          <p:nvPr/>
        </p:nvSpPr>
        <p:spPr>
          <a:xfrm>
            <a:off x="8577942" y="4473793"/>
            <a:ext cx="1917866" cy="1767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E1114C-3B56-4979-5E51-0D9692066BB8}"/>
              </a:ext>
            </a:extLst>
          </p:cNvPr>
          <p:cNvSpPr txBox="1"/>
          <p:nvPr/>
        </p:nvSpPr>
        <p:spPr>
          <a:xfrm>
            <a:off x="708808" y="3962064"/>
            <a:ext cx="3575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 </a:t>
            </a:r>
            <a:r>
              <a:rPr lang="en-US" sz="1400" dirty="0" err="1"/>
              <a:t>sks</a:t>
            </a:r>
            <a:r>
              <a:rPr lang="en-US" sz="1400" dirty="0"/>
              <a:t> person as an impressionist painting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D24630-33AC-C408-1800-33EF72B1E065}"/>
              </a:ext>
            </a:extLst>
          </p:cNvPr>
          <p:cNvSpPr txBox="1"/>
          <p:nvPr/>
        </p:nvSpPr>
        <p:spPr>
          <a:xfrm>
            <a:off x="5050330" y="3909214"/>
            <a:ext cx="19178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 </a:t>
            </a:r>
            <a:r>
              <a:rPr lang="en-US" sz="1400" dirty="0" err="1"/>
              <a:t>sks</a:t>
            </a:r>
            <a:r>
              <a:rPr lang="en-US" sz="1400" dirty="0"/>
              <a:t> person in the style of an sketch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D464A2-B8AD-D5FC-57AE-0E7C1EF4222D}"/>
              </a:ext>
            </a:extLst>
          </p:cNvPr>
          <p:cNvSpPr txBox="1"/>
          <p:nvPr/>
        </p:nvSpPr>
        <p:spPr>
          <a:xfrm>
            <a:off x="7651376" y="3964473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 </a:t>
            </a:r>
            <a:r>
              <a:rPr lang="en-US" sz="1400" dirty="0" err="1"/>
              <a:t>sks</a:t>
            </a:r>
            <a:r>
              <a:rPr lang="en-US" sz="1400" dirty="0"/>
              <a:t> person in the style of the Dada movement from the 20th century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53DC0A-D25D-0DF9-CCF6-E3DD0B8D9A20}"/>
              </a:ext>
            </a:extLst>
          </p:cNvPr>
          <p:cNvSpPr txBox="1"/>
          <p:nvPr/>
        </p:nvSpPr>
        <p:spPr>
          <a:xfrm>
            <a:off x="708808" y="6282902"/>
            <a:ext cx="34007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 </a:t>
            </a:r>
            <a:r>
              <a:rPr lang="en-US" sz="1400" dirty="0" err="1"/>
              <a:t>sks</a:t>
            </a:r>
            <a:r>
              <a:rPr lang="en-US" sz="1400" dirty="0"/>
              <a:t> person in the style of Andy Warhol's Marilyn Diptych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1C7E6E-57D4-22C8-B04F-1F5179D349DC}"/>
              </a:ext>
            </a:extLst>
          </p:cNvPr>
          <p:cNvSpPr txBox="1"/>
          <p:nvPr/>
        </p:nvSpPr>
        <p:spPr>
          <a:xfrm>
            <a:off x="4444820" y="6244669"/>
            <a:ext cx="31288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 </a:t>
            </a:r>
            <a:r>
              <a:rPr lang="en-US" sz="1400" dirty="0" err="1"/>
              <a:t>sks</a:t>
            </a:r>
            <a:r>
              <a:rPr lang="en-US" sz="1400" dirty="0"/>
              <a:t> person in the style of a medieval book illustration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D6A160-5D3E-66CC-27DF-C409F0F19B7F}"/>
              </a:ext>
            </a:extLst>
          </p:cNvPr>
          <p:cNvSpPr txBox="1"/>
          <p:nvPr/>
        </p:nvSpPr>
        <p:spPr>
          <a:xfrm>
            <a:off x="8017816" y="6286028"/>
            <a:ext cx="3013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 </a:t>
            </a:r>
            <a:r>
              <a:rPr lang="en-US" sz="1400" dirty="0" err="1"/>
              <a:t>sks</a:t>
            </a:r>
            <a:r>
              <a:rPr lang="en-US" sz="1400" dirty="0"/>
              <a:t> person in the style of Byzantine religious art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4D0B43-7FC6-99A7-B6D1-16AF7824D1EF}"/>
              </a:ext>
            </a:extLst>
          </p:cNvPr>
          <p:cNvSpPr txBox="1"/>
          <p:nvPr/>
        </p:nvSpPr>
        <p:spPr>
          <a:xfrm>
            <a:off x="613560" y="1285753"/>
            <a:ext cx="1133895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12 images of the person you trained on in various contexts (e.g. different hair color, outfit, background, art style, etc...) along with their respective prompts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D5443F-9CE7-A79E-652D-911D74FCA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141" y="2095952"/>
            <a:ext cx="1767750" cy="1767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7A06B4-026D-9F64-BF02-3765BD919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125" y="2077965"/>
            <a:ext cx="1767750" cy="1767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F00AE2-27EE-C508-A710-0C1DEA23D0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3000" y="2044591"/>
            <a:ext cx="1801124" cy="180112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7170C58-50CA-367C-5029-36374E6532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7017" y="4451046"/>
            <a:ext cx="1759538" cy="175953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BA445D7-1A13-A63E-E665-48EFE12F3E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125" y="4478189"/>
            <a:ext cx="1732395" cy="173239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6448A1B-D829-257D-B8D5-D6A6B28447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3000" y="4473793"/>
            <a:ext cx="1742705" cy="1742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824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elcome to Powerpoint 2016_CLR_v2" id="{CAB9082A-965C-42BE-8170-C940D3319B60}" vid="{82B84162-888A-4FD2-BEC9-B29B6DB2C73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8a52e8c320b9a064ae3583ae3861c9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8020cb39231a0945110f9cd888b521a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50072C5-DDE0-4258-BA7A-4D4B80DFA632}">
  <ds:schemaRefs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schemas.microsoft.com/office/2006/metadata/properties"/>
    <ds:schemaRef ds:uri="71af3243-3dd4-4a8d-8c0d-dd76da1f02a5"/>
    <ds:schemaRef ds:uri="http://www.w3.org/XML/1998/namespace"/>
    <ds:schemaRef ds:uri="http://purl.org/dc/elements/1.1/"/>
    <ds:schemaRef ds:uri="http://schemas.openxmlformats.org/package/2006/metadata/core-properties"/>
    <ds:schemaRef ds:uri="16c05727-aa75-4e4a-9b5f-8a80a1165891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FD7FC771-7DFE-49DA-B577-71181BFBCB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EE8C63A-4744-4DE4-BB49-0FF0B5375C6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0</TotalTime>
  <Words>546</Words>
  <Application>Microsoft Macintosh PowerPoint</Application>
  <PresentationFormat>Widescreen</PresentationFormat>
  <Paragraphs>49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Consolas</vt:lpstr>
      <vt:lpstr>Menlo</vt:lpstr>
      <vt:lpstr>Segoe UI</vt:lpstr>
      <vt:lpstr>Segoe UI Light</vt:lpstr>
      <vt:lpstr>WelcomeDoc</vt:lpstr>
      <vt:lpstr>ECE 157B/272B Homework 3</vt:lpstr>
      <vt:lpstr>Stable Diffusion - Text-to-Image Generation – without Promptist</vt:lpstr>
      <vt:lpstr>Stable Diffusion - Text-to-Image Generation – with Promptist</vt:lpstr>
      <vt:lpstr>DreamBooth – Adding a Person to the Model</vt:lpstr>
      <vt:lpstr>DreamBooth – Adding a Person to the Model</vt:lpstr>
      <vt:lpstr>DreamBooth</vt:lpstr>
      <vt:lpstr>DreamBooth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2023-01-24T21:25:40Z</dcterms:created>
  <dcterms:modified xsi:type="dcterms:W3CDTF">2025-02-25T01:58:44Z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